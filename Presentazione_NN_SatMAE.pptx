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8288000" cy="10287000"/>
  <p:notesSz cx="6858000" cy="9144000"/>
  <p:embeddedFontLst>
    <p:embeddedFont>
      <p:font typeface="Open Sans 1 Bold" charset="1" panose="020B0806030504020204"/>
      <p:regular r:id="rId42"/>
    </p:embeddedFont>
    <p:embeddedFont>
      <p:font typeface="Open Sans 1 Bold Italics" charset="1" panose="020B0806030504020204"/>
      <p:regular r:id="rId43"/>
    </p:embeddedFont>
    <p:embeddedFont>
      <p:font typeface="Open Sans 1" charset="1" panose="020B0606030504020204"/>
      <p:regular r:id="rId44"/>
    </p:embeddedFont>
    <p:embeddedFont>
      <p:font typeface="Open Sans 2" charset="1" panose="00000000000000000000"/>
      <p:regular r:id="rId45"/>
    </p:embeddedFont>
    <p:embeddedFont>
      <p:font typeface="Open Sans 1 Italics" charset="1" panose="020B060603050402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5910559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5000" b="1" i="0">
                <a:solidFill>
                  <a:srgbClr val="FFFFFF"/>
                </a:solidFill>
                <a:latin typeface="Open Sans"/>
              </a:rPr>
              <a:t>Satellite Image Segmentation</a:t>
            </a:r>
          </a:p>
          <a:p>
            <a:pPr algn="l">
              <a:spcAft>
                <a:spcPts val="0"/>
              </a:spcAft>
              <a:buNone/>
            </a:pPr>
            <a:r>
              <a:rPr sz="3000" b="0" i="0">
                <a:solidFill>
                  <a:srgbClr val="ECD2D2"/>
                </a:solidFill>
                <a:latin typeface="Open Sans"/>
              </a:rPr>
              <a:t>Learning from Satellite Pretraining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383280"/>
            <a:ext cx="15910559" cy="512064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FULL-WIDTH IMAGE: satellite scene / LoveDA mosaic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869680"/>
            <a:ext cx="1591055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Neural Networks  -  A.A.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669280" cy="5943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8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Few Labels</a:t>
            </a:r>
          </a:p>
          <a:p>
            <a:pPr algn="l">
              <a:spcAft>
                <a:spcPts val="18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Large Images</a:t>
            </a:r>
          </a:p>
          <a:p>
            <a:pPr algn="l">
              <a:spcAft>
                <a:spcPts val="24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Complex Land-Cover Classes</a:t>
            </a:r>
          </a:p>
          <a:p>
            <a:pPr algn="l">
              <a:spcAft>
                <a:spcPts val="0"/>
              </a:spcAft>
              <a:buNone/>
            </a:pPr>
            <a:r>
              <a:rPr sz="1700" b="0" i="1">
                <a:solidFill>
                  <a:srgbClr val="7A7A7A"/>
                </a:solidFill>
                <a:latin typeface="Open Sans"/>
              </a:rPr>
              <a:t>Annotating satellite imagery is expensive - can pretraining compensate for label scarcity?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920240"/>
            <a:ext cx="10607040" cy="667512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LoveDA RGB  +  Ground-Truth mask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6093440" cy="4206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Does satellite-specific</a:t>
            </a:r>
          </a:p>
          <a:p>
            <a:pPr algn="ctr">
              <a:spcAft>
                <a:spcPts val="16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pretraining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680960"/>
            <a:ext cx="16093440" cy="1645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Open Sans"/>
              </a:rPr>
              <a:t>Scratch    -&gt;    ImageNet    -&gt;    Satellite Pretraining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Dataset - LoveDA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669280" cy="548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8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7 Classes</a:t>
            </a:r>
          </a:p>
          <a:p>
            <a:pPr algn="l">
              <a:spcAft>
                <a:spcPts val="18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Urban + Rural</a:t>
            </a:r>
          </a:p>
          <a:p>
            <a:pPr algn="l">
              <a:spcAft>
                <a:spcPts val="18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100 / 300 / 600 Images</a:t>
            </a:r>
          </a:p>
          <a:p>
            <a:pPr algn="l">
              <a:spcAft>
                <a:spcPts val="0"/>
              </a:spcAft>
              <a:buNone/>
            </a:pPr>
            <a:r>
              <a:rPr sz="1800" b="0" i="1">
                <a:solidFill>
                  <a:srgbClr val="7A7A7A"/>
                </a:solidFill>
                <a:latin typeface="Open Sans"/>
              </a:rPr>
              <a:t>(data-scarce regime)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920240"/>
            <a:ext cx="10607040" cy="667512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LoveDA patches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Two Pretraining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6459200" cy="457200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SCHEMA: Swin  &lt;-  RSP        |        ViT-L  &lt;-  SatMAE++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0"/>
            <a:ext cx="1645920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sz="2800" b="1" i="0">
                <a:solidFill>
                  <a:srgbClr val="6F0A19"/>
                </a:solidFill>
                <a:latin typeface="Open Sans"/>
              </a:rPr>
              <a:t>Different Architectures   -   Different Pretraining</a:t>
            </a:r>
          </a:p>
          <a:p>
            <a:pPr algn="ctr">
              <a:spcAft>
                <a:spcPts val="0"/>
              </a:spcAft>
              <a:buNone/>
            </a:pPr>
            <a:r>
              <a:rPr sz="1800" b="0" i="1">
                <a:solidFill>
                  <a:srgbClr val="7A7A7A"/>
                </a:solidFill>
                <a:latin typeface="Open Sans"/>
              </a:rPr>
              <a:t>weights are not interchangeable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Why SatMAE++?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6459200" cy="512064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SCHEMA: Masked Autoencoder (mask -&gt; encode -&gt; reconstruct)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0"/>
            <a:ext cx="1645920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Learn from Millions of Unlabeled Satellite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GSD vs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120640" cy="402336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Resize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51206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600" b="1" i="0">
                <a:solidFill>
                  <a:srgbClr val="1F497D"/>
                </a:solidFill>
                <a:latin typeface="Open Sans"/>
              </a:rPr>
              <a:t>Resize</a:t>
            </a:r>
          </a:p>
          <a:p>
            <a:pPr algn="ctr">
              <a:spcAft>
                <a:spcPts val="0"/>
              </a:spcAft>
              <a:buNone/>
            </a:pPr>
            <a:r>
              <a:rPr sz="2200" b="1" i="0">
                <a:solidFill>
                  <a:srgbClr val="C01A2B"/>
                </a:solidFill>
                <a:latin typeface="Open Sans"/>
              </a:rPr>
              <a:t>✗  Detail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120640" cy="402336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Crop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309360"/>
            <a:ext cx="51206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600" b="1" i="0">
                <a:solidFill>
                  <a:srgbClr val="1F497D"/>
                </a:solidFill>
                <a:latin typeface="Open Sans"/>
              </a:rPr>
              <a:t>Crop</a:t>
            </a:r>
          </a:p>
          <a:p>
            <a:pPr algn="ctr">
              <a:spcAft>
                <a:spcPts val="0"/>
              </a:spcAft>
              <a:buNone/>
            </a:pPr>
            <a:r>
              <a:rPr sz="2200" b="1" i="0">
                <a:solidFill>
                  <a:srgbClr val="C01A2B"/>
                </a:solidFill>
                <a:latin typeface="Open Sans"/>
              </a:rPr>
              <a:t>✗  Context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0" y="2011680"/>
            <a:ext cx="5120640" cy="402336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Hybrid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0" y="6309360"/>
            <a:ext cx="51206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600" b="1" i="0">
                <a:solidFill>
                  <a:srgbClr val="1F497D"/>
                </a:solidFill>
                <a:latin typeface="Open Sans"/>
              </a:rPr>
              <a:t>Hybrid</a:t>
            </a:r>
          </a:p>
          <a:p>
            <a:pPr algn="ctr">
              <a:spcAft>
                <a:spcPts val="0"/>
              </a:spcAft>
              <a:buNone/>
            </a:pPr>
            <a:r>
              <a:rPr sz="2200" b="1" i="0">
                <a:solidFill>
                  <a:srgbClr val="2E7D32"/>
                </a:solidFill>
                <a:latin typeface="Open Sans"/>
              </a:rPr>
              <a:t>✓  Best Trade-off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Experimental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6459200" cy="457200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WORKFLOW: LoveDA -&gt; Transformer Encoder -&gt; Decoder -&gt; Segmentation Map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645920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Scratch        RSP        SatMAE++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6093440" cy="4206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6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Main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LoveDA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77724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202020"/>
                </a:solidFill>
                <a:latin typeface="Open Sans"/>
              </a:rPr>
              <a:t>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10312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7A7A7A"/>
                </a:solidFill>
                <a:latin typeface="Open Sans"/>
              </a:rPr>
              <a:t>0.09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37560"/>
            <a:ext cx="77724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202020"/>
                </a:solidFill>
                <a:latin typeface="Open Sans"/>
              </a:rPr>
              <a:t>RSP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33756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1F497D"/>
                </a:solidFill>
                <a:latin typeface="Open Sans"/>
              </a:rPr>
              <a:t>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77724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400" b="1" i="0">
                <a:solidFill>
                  <a:srgbClr val="202020"/>
                </a:solidFill>
                <a:latin typeface="Open Sans"/>
              </a:rPr>
              <a:t>SatMAE++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457200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2E7D32"/>
                </a:solidFill>
                <a:latin typeface="Open Sans"/>
              </a:rPr>
              <a:t>0.31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126480"/>
            <a:ext cx="137160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C01A2B"/>
                </a:solidFill>
                <a:latin typeface="Open Sans"/>
              </a:rPr>
              <a:t>+244% vs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7315200"/>
            <a:ext cx="150876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6F0A19"/>
                </a:solidFill>
                <a:latin typeface="Open Sans"/>
              </a:rPr>
              <a:t>Frozen SatMAE++ beats Fine-Tuned Swin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Why 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852160" cy="5486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2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Better Features</a:t>
            </a:r>
          </a:p>
          <a:p>
            <a:pPr algn="l">
              <a:spcAft>
                <a:spcPts val="22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Better Semantics</a:t>
            </a:r>
          </a:p>
          <a:p>
            <a:pPr algn="l">
              <a:spcAft>
                <a:spcPts val="220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Better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920240"/>
            <a:ext cx="10424160" cy="667512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prediction  SatMAE++  vs  Scratch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Wavelet Experiments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8229600" cy="603504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SCHEMA: wavelet branch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1920240"/>
            <a:ext cx="7863840" cy="6035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40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No Significant Gain</a:t>
            </a:r>
          </a:p>
          <a:p>
            <a:pPr algn="l">
              <a:spcAft>
                <a:spcPts val="0"/>
              </a:spcAft>
              <a:buNone/>
            </a:pPr>
            <a:r>
              <a:rPr sz="2600" b="0" i="1">
                <a:solidFill>
                  <a:srgbClr val="7A7A7A"/>
                </a:solidFill>
                <a:latin typeface="Open Sans"/>
              </a:rPr>
              <a:t>mIoU ~= unchanged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6093440" cy="4206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6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Edges are not the bottleneck.</a:t>
            </a:r>
          </a:p>
          <a:p>
            <a:pPr algn="ctr">
              <a:spcAft>
                <a:spcPts val="400"/>
              </a:spcAft>
              <a:buNone/>
            </a:pPr>
            <a:r>
              <a:rPr sz="2600" b="0" i="0">
                <a:solidFill>
                  <a:srgbClr val="ECD2D2"/>
                </a:solidFill>
                <a:latin typeface="Open Sans"/>
              </a:rPr>
              <a:t>Semantics Matter 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6093440" cy="4206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6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Task 2</a:t>
            </a:r>
          </a:p>
          <a:p>
            <a:pPr algn="ctr">
              <a:spcAft>
                <a:spcPts val="400"/>
              </a:spcAft>
              <a:buNone/>
            </a:pPr>
            <a:r>
              <a:rPr sz="2600" b="0" i="0">
                <a:solidFill>
                  <a:srgbClr val="ECD2D2"/>
                </a:solidFill>
                <a:latin typeface="Open Sans"/>
              </a:rPr>
              <a:t>Multispectral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6949440"/>
            <a:ext cx="10972800" cy="237744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Sentinel-2  +  Sentinel-1 ]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Optical + SAR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103120"/>
            <a:ext cx="7315200" cy="4206240"/>
          </a:xfrm>
          <a:prstGeom prst="roundRect">
            <a:avLst/>
          </a:prstGeom>
          <a:solidFill>
            <a:srgbClr val="F4ECEC"/>
          </a:solidFill>
          <a:ln w="19050">
            <a:solidFill>
              <a:srgbClr val="6F0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buNone/>
            </a:pPr>
            <a:r>
              <a:rPr sz="3200" b="1" i="0">
                <a:solidFill>
                  <a:srgbClr val="6F0A19"/>
                </a:solidFill>
                <a:latin typeface="Open Sans"/>
              </a:rPr>
              <a:t>Optical (S2)</a:t>
            </a:r>
          </a:p>
          <a:p>
            <a:pPr algn="ctr">
              <a:spcAft>
                <a:spcPts val="0"/>
              </a:spcAft>
              <a:buNone/>
            </a:pPr>
            <a:r>
              <a:rPr sz="2600" b="0" i="0">
                <a:solidFill>
                  <a:srgbClr val="202020"/>
                </a:solidFill>
                <a:latin typeface="Open Sans"/>
              </a:rPr>
              <a:t>13 Bands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103120"/>
            <a:ext cx="7315200" cy="4206240"/>
          </a:xfrm>
          <a:prstGeom prst="roundRect">
            <a:avLst/>
          </a:prstGeom>
          <a:solidFill>
            <a:srgbClr val="F4ECEC"/>
          </a:solidFill>
          <a:ln w="19050">
            <a:solidFill>
              <a:srgbClr val="6F0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buNone/>
            </a:pPr>
            <a:r>
              <a:rPr sz="3200" b="1" i="0">
                <a:solidFill>
                  <a:srgbClr val="6F0A19"/>
                </a:solidFill>
                <a:latin typeface="Open Sans"/>
              </a:rPr>
              <a:t>SAR (S1)</a:t>
            </a:r>
          </a:p>
          <a:p>
            <a:pPr algn="ctr">
              <a:spcAft>
                <a:spcPts val="0"/>
              </a:spcAft>
              <a:buNone/>
            </a:pPr>
            <a:r>
              <a:rPr sz="2600" b="0" i="0">
                <a:solidFill>
                  <a:srgbClr val="202020"/>
                </a:solidFill>
                <a:latin typeface="Open Sans"/>
              </a:rPr>
              <a:t>2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766560"/>
            <a:ext cx="164592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1F497D"/>
                </a:solidFill>
                <a:latin typeface="Open Sans"/>
              </a:rPr>
              <a:t>Dual-Modal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DFC2020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94560"/>
            <a:ext cx="86868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02020"/>
                </a:solidFill>
                <a:latin typeface="Open Sans"/>
              </a:rPr>
              <a:t>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19456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800" b="1" i="0">
                <a:solidFill>
                  <a:srgbClr val="7A7A7A"/>
                </a:solidFill>
                <a:latin typeface="Open Sans"/>
              </a:rPr>
              <a:t>0.488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29000"/>
            <a:ext cx="86868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02020"/>
                </a:solidFill>
                <a:latin typeface="Open Sans"/>
              </a:rPr>
              <a:t>SatMAE++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42900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800" b="1" i="0">
                <a:solidFill>
                  <a:srgbClr val="2E7D32"/>
                </a:solidFill>
                <a:latin typeface="Open Sans"/>
              </a:rPr>
              <a:t>0.536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63440"/>
            <a:ext cx="86868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200" b="1" i="0">
                <a:solidFill>
                  <a:srgbClr val="202020"/>
                </a:solidFill>
                <a:latin typeface="Open Sans"/>
              </a:rPr>
              <a:t>SatMAE++ + 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663440"/>
            <a:ext cx="457200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800" b="1" i="0">
                <a:solidFill>
                  <a:srgbClr val="1F497D"/>
                </a:solidFill>
                <a:latin typeface="Open Sans"/>
              </a:rPr>
              <a:t>~0.53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766560"/>
            <a:ext cx="150876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600" b="1" i="0">
                <a:solidFill>
                  <a:srgbClr val="6F0A19"/>
                </a:solidFill>
                <a:latin typeface="Open Sans"/>
              </a:rPr>
              <a:t>Pretraining Helps Again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What Did SAR Add?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6035040" cy="4572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3800" b="1" i="0">
                <a:solidFill>
                  <a:srgbClr val="6F0A19"/>
                </a:solidFill>
                <a:latin typeface="Open Sans"/>
              </a:rPr>
              <a:t>Better Water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920240"/>
            <a:ext cx="10241280" cy="667512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A7A7A"/>
                </a:solidFill>
                <a:latin typeface="Open Sans"/>
              </a:rPr>
              <a:t>[ IMAGE: water segmentation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6093440" cy="6583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600"/>
              </a:spcAft>
              <a:buNone/>
            </a:pPr>
            <a:r>
              <a:rPr sz="2800" b="1" i="0">
                <a:solidFill>
                  <a:srgbClr val="2E7D32"/>
                </a:solidFill>
                <a:latin typeface="Open Sans"/>
              </a:rPr>
              <a:t>✓   Satellite pretraining works</a:t>
            </a:r>
          </a:p>
          <a:p>
            <a:pPr algn="l">
              <a:spcAft>
                <a:spcPts val="1600"/>
              </a:spcAft>
              <a:buNone/>
            </a:pPr>
            <a:r>
              <a:rPr sz="2800" b="1" i="0">
                <a:solidFill>
                  <a:srgbClr val="2E7D32"/>
                </a:solidFill>
                <a:latin typeface="Open Sans"/>
              </a:rPr>
              <a:t>✓   SatMAE++ &gt; RSP &gt; Scratch</a:t>
            </a:r>
          </a:p>
          <a:p>
            <a:pPr algn="l">
              <a:spcAft>
                <a:spcPts val="1600"/>
              </a:spcAft>
              <a:buNone/>
            </a:pPr>
            <a:r>
              <a:rPr sz="2800" b="1" i="0">
                <a:solidFill>
                  <a:srgbClr val="2E7D32"/>
                </a:solidFill>
                <a:latin typeface="Open Sans"/>
              </a:rPr>
              <a:t>✓   Frozen features are surprisingly strong</a:t>
            </a:r>
          </a:p>
          <a:p>
            <a:pPr algn="l">
              <a:spcAft>
                <a:spcPts val="1600"/>
              </a:spcAft>
              <a:buNone/>
            </a:pPr>
            <a:r>
              <a:rPr sz="2800" b="1" i="0">
                <a:solidFill>
                  <a:srgbClr val="2E7D32"/>
                </a:solidFill>
                <a:latin typeface="Open Sans"/>
              </a:rPr>
              <a:t>✓   Wavelets bring little benefit</a:t>
            </a:r>
          </a:p>
          <a:p>
            <a:pPr algn="l">
              <a:spcAft>
                <a:spcPts val="1600"/>
              </a:spcAft>
              <a:buNone/>
            </a:pPr>
            <a:r>
              <a:rPr sz="2800" b="1" i="0">
                <a:solidFill>
                  <a:srgbClr val="2E7D32"/>
                </a:solidFill>
                <a:latin typeface="Open Sans"/>
              </a:rPr>
              <a:t>✓   Multispectral pretraining scales to Sentinel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664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000" b="1" i="0">
                <a:solidFill>
                  <a:srgbClr val="6F0A19"/>
                </a:solidFill>
                <a:latin typeface="Open Sans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73152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SAMRS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377440"/>
            <a:ext cx="73152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More SAR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73152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Semi-Supervised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303520"/>
            <a:ext cx="73152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000" b="1" i="0">
                <a:solidFill>
                  <a:srgbClr val="6F0A19"/>
                </a:solidFill>
                <a:latin typeface="Open Sans"/>
              </a:rPr>
              <a:t>Larger Datasets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F0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6093440" cy="4206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Pretraining matters</a:t>
            </a:r>
          </a:p>
          <a:p>
            <a:pPr algn="ctr">
              <a:spcAft>
                <a:spcPts val="1600"/>
              </a:spcAft>
              <a:buNone/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more than architecture.</a:t>
            </a:r>
          </a:p>
          <a:p>
            <a:pPr algn="ctr">
              <a:spcAft>
                <a:spcPts val="400"/>
              </a:spcAft>
              <a:buNone/>
            </a:pPr>
            <a:r>
              <a:rPr sz="2600" b="0" i="0">
                <a:solidFill>
                  <a:srgbClr val="ECD2D2"/>
                </a:solidFill>
                <a:latin typeface="Open Sans"/>
              </a:rPr>
              <a:t>Satellite-specific representations dramatically improve</a:t>
            </a:r>
          </a:p>
          <a:p>
            <a:pPr algn="ctr">
              <a:spcAft>
                <a:spcPts val="400"/>
              </a:spcAft>
              <a:buNone/>
            </a:pPr>
            <a:r>
              <a:rPr sz="2600" b="0" i="0">
                <a:solidFill>
                  <a:srgbClr val="ECD2D2"/>
                </a:solidFill>
                <a:latin typeface="Open Sans"/>
              </a:rPr>
              <a:t>segmentation in data-scarce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DAHBIejPfWg</dc:identifier>
  <dcterms:modified xsi:type="dcterms:W3CDTF">2011-08-01T06:04:30Z</dcterms:modified>
  <cp:revision>1</cp:revision>
  <dc:title>UNDERACTUATED ROBOTs</dc:title>
</cp:coreProperties>
</file>